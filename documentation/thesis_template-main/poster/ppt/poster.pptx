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0276000" cx="21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536">
          <p15:clr>
            <a:srgbClr val="A4A3A4"/>
          </p15:clr>
        </p15:guide>
        <p15:guide id="2" pos="67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536" orient="horz"/>
        <p:guide pos="673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8368" y="685800"/>
            <a:ext cx="242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2cec56486_0_5:notes"/>
          <p:cNvSpPr/>
          <p:nvPr>
            <p:ph idx="2" type="sldImg"/>
          </p:nvPr>
        </p:nvSpPr>
        <p:spPr>
          <a:xfrm>
            <a:off x="2218368" y="685800"/>
            <a:ext cx="242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2cec564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8956" y="4382765"/>
            <a:ext cx="19926000" cy="12082200"/>
          </a:xfrm>
          <a:prstGeom prst="rect">
            <a:avLst/>
          </a:prstGeom>
        </p:spPr>
        <p:txBody>
          <a:bodyPr anchorCtr="0" anchor="b" bIns="322325" lIns="322325" spcFirstLastPara="1" rIns="322325" wrap="square" tIns="3223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8936" y="16682409"/>
            <a:ext cx="19926000" cy="46653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28936" y="12660471"/>
            <a:ext cx="19926000" cy="49551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28936" y="2619535"/>
            <a:ext cx="19926000" cy="33711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8936" y="6783772"/>
            <a:ext cx="19926000" cy="201099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628650" lvl="0" marL="457200">
              <a:spcBef>
                <a:spcPts val="0"/>
              </a:spcBef>
              <a:spcAft>
                <a:spcPts val="0"/>
              </a:spcAft>
              <a:buSzPts val="6300"/>
              <a:buChar char="●"/>
              <a:defRPr/>
            </a:lvl1pPr>
            <a:lvl2pPr indent="-539750" lvl="1" marL="9144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2pPr>
            <a:lvl3pPr indent="-539750" lvl="2" marL="13716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3pPr>
            <a:lvl4pPr indent="-539750" lvl="3" marL="1828800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4pPr>
            <a:lvl5pPr indent="-539750" lvl="4" marL="22860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5pPr>
            <a:lvl6pPr indent="-539750" lvl="5" marL="27432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6pPr>
            <a:lvl7pPr indent="-539750" lvl="6" marL="3200400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7pPr>
            <a:lvl8pPr indent="-539750" lvl="7" marL="36576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8pPr>
            <a:lvl9pPr indent="-539750" lvl="8" marL="41148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8936" y="2619535"/>
            <a:ext cx="19926000" cy="33711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28936" y="6783772"/>
            <a:ext cx="9354000" cy="201099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539750" lvl="0" marL="457200">
              <a:spcBef>
                <a:spcPts val="0"/>
              </a:spcBef>
              <a:spcAft>
                <a:spcPts val="0"/>
              </a:spcAft>
              <a:buSzPts val="4900"/>
              <a:buChar char="●"/>
              <a:defRPr sz="4900"/>
            </a:lvl1pPr>
            <a:lvl2pPr indent="-495300" lvl="1" marL="9144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indent="-495300" lvl="2" marL="13716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indent="-495300" lvl="3" marL="18288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indent="-495300" lvl="4" marL="22860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indent="-495300" lvl="5" marL="27432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indent="-495300" lvl="6" marL="32004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indent="-495300" lvl="7" marL="36576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indent="-495300" lvl="8" marL="41148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1300967" y="6783772"/>
            <a:ext cx="9354000" cy="201099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539750" lvl="0" marL="457200">
              <a:spcBef>
                <a:spcPts val="0"/>
              </a:spcBef>
              <a:spcAft>
                <a:spcPts val="0"/>
              </a:spcAft>
              <a:buSzPts val="4900"/>
              <a:buChar char="●"/>
              <a:defRPr sz="4900"/>
            </a:lvl1pPr>
            <a:lvl2pPr indent="-495300" lvl="1" marL="9144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indent="-495300" lvl="2" marL="13716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indent="-495300" lvl="3" marL="18288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indent="-495300" lvl="4" marL="22860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indent="-495300" lvl="5" marL="27432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indent="-495300" lvl="6" marL="32004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indent="-495300" lvl="7" marL="36576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indent="-495300" lvl="8" marL="41148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28936" y="2619535"/>
            <a:ext cx="19926000" cy="33711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28936" y="3270408"/>
            <a:ext cx="6566700" cy="4448400"/>
          </a:xfrm>
          <a:prstGeom prst="rect">
            <a:avLst/>
          </a:prstGeom>
        </p:spPr>
        <p:txBody>
          <a:bodyPr anchorCtr="0" anchor="b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28936" y="8179553"/>
            <a:ext cx="6566700" cy="187146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495300" lvl="0" marL="4572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indent="-495300" lvl="1" marL="9144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indent="-495300" lvl="2" marL="13716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indent="-495300" lvl="3" marL="18288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indent="-495300" lvl="4" marL="22860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indent="-495300" lvl="5" marL="27432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indent="-495300" lvl="6" marL="32004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indent="-495300" lvl="7" marL="36576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indent="-495300" lvl="8" marL="41148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146490" y="2649702"/>
            <a:ext cx="14891400" cy="240795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1pPr>
            <a:lvl2pPr lvl="1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2pPr>
            <a:lvl3pPr lvl="2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3pPr>
            <a:lvl4pPr lvl="3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4pPr>
            <a:lvl5pPr lvl="4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5pPr>
            <a:lvl6pPr lvl="5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6pPr>
            <a:lvl7pPr lvl="6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7pPr>
            <a:lvl8pPr lvl="7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8pPr>
            <a:lvl9pPr lvl="8">
              <a:spcBef>
                <a:spcPts val="0"/>
              </a:spcBef>
              <a:spcAft>
                <a:spcPts val="0"/>
              </a:spcAft>
              <a:buSzPts val="16900"/>
              <a:buNone/>
              <a:defRPr sz="16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692000" y="-736"/>
            <a:ext cx="10692000" cy="30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22325" lIns="322325" spcFirstLastPara="1" rIns="322325" wrap="square" tIns="32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20894" y="7258794"/>
            <a:ext cx="9459900" cy="8725200"/>
          </a:xfrm>
          <a:prstGeom prst="rect">
            <a:avLst/>
          </a:prstGeom>
        </p:spPr>
        <p:txBody>
          <a:bodyPr anchorCtr="0" anchor="b" bIns="322325" lIns="322325" spcFirstLastPara="1" rIns="322325" wrap="square" tIns="3223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620894" y="16499640"/>
            <a:ext cx="9459900" cy="72702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1551429" y="4262097"/>
            <a:ext cx="8973000" cy="217503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indent="-628650" lvl="0" marL="457200">
              <a:spcBef>
                <a:spcPts val="0"/>
              </a:spcBef>
              <a:spcAft>
                <a:spcPts val="0"/>
              </a:spcAft>
              <a:buSzPts val="6300"/>
              <a:buChar char="●"/>
              <a:defRPr/>
            </a:lvl1pPr>
            <a:lvl2pPr indent="-539750" lvl="1" marL="9144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2pPr>
            <a:lvl3pPr indent="-539750" lvl="2" marL="13716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3pPr>
            <a:lvl4pPr indent="-539750" lvl="3" marL="1828800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4pPr>
            <a:lvl5pPr indent="-539750" lvl="4" marL="22860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5pPr>
            <a:lvl6pPr indent="-539750" lvl="5" marL="27432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6pPr>
            <a:lvl7pPr indent="-539750" lvl="6" marL="3200400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7pPr>
            <a:lvl8pPr indent="-539750" lvl="7" marL="3657600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8pPr>
            <a:lvl9pPr indent="-539750" lvl="8" marL="4114800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728936" y="24902282"/>
            <a:ext cx="14028600" cy="35616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728936" y="6510944"/>
            <a:ext cx="19926000" cy="11557800"/>
          </a:xfrm>
          <a:prstGeom prst="rect">
            <a:avLst/>
          </a:prstGeom>
        </p:spPr>
        <p:txBody>
          <a:bodyPr anchorCtr="0" anchor="b" bIns="322325" lIns="322325" spcFirstLastPara="1" rIns="322325" wrap="square" tIns="3223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728936" y="18554829"/>
            <a:ext cx="19926000" cy="7656600"/>
          </a:xfrm>
          <a:prstGeom prst="rect">
            <a:avLst/>
          </a:prstGeom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628650" lvl="0" marL="457200" algn="ctr">
              <a:spcBef>
                <a:spcPts val="0"/>
              </a:spcBef>
              <a:spcAft>
                <a:spcPts val="0"/>
              </a:spcAft>
              <a:buSzPts val="6300"/>
              <a:buChar char="●"/>
              <a:defRPr/>
            </a:lvl1pPr>
            <a:lvl2pPr indent="-539750" lvl="1" marL="914400" algn="ctr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2pPr>
            <a:lvl3pPr indent="-539750" lvl="2" marL="1371600" algn="ctr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3pPr>
            <a:lvl4pPr indent="-539750" lvl="3" marL="1828800" algn="ctr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4pPr>
            <a:lvl5pPr indent="-539750" lvl="4" marL="2286000" algn="ctr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5pPr>
            <a:lvl6pPr indent="-539750" lvl="5" marL="2743200" algn="ctr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6pPr>
            <a:lvl7pPr indent="-539750" lvl="6" marL="3200400" algn="ctr">
              <a:spcBef>
                <a:spcPts val="0"/>
              </a:spcBef>
              <a:spcAft>
                <a:spcPts val="0"/>
              </a:spcAft>
              <a:buSzPts val="4900"/>
              <a:buChar char="●"/>
              <a:defRPr/>
            </a:lvl7pPr>
            <a:lvl8pPr indent="-539750" lvl="7" marL="3657600" algn="ctr">
              <a:spcBef>
                <a:spcPts val="0"/>
              </a:spcBef>
              <a:spcAft>
                <a:spcPts val="0"/>
              </a:spcAft>
              <a:buSzPts val="4900"/>
              <a:buChar char="○"/>
              <a:defRPr/>
            </a:lvl8pPr>
            <a:lvl9pPr indent="-539750" lvl="8" marL="4114800" algn="ctr">
              <a:spcBef>
                <a:spcPts val="0"/>
              </a:spcBef>
              <a:spcAft>
                <a:spcPts val="0"/>
              </a:spcAft>
              <a:buSzPts val="4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8936" y="2619535"/>
            <a:ext cx="199260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325" lIns="322325" spcFirstLastPara="1" rIns="322325" wrap="square" tIns="3223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0"/>
              <a:buNone/>
              <a:defRPr sz="9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8936" y="6783772"/>
            <a:ext cx="19926000" cy="20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325" lIns="322325" spcFirstLastPara="1" rIns="322325" wrap="square" tIns="322325">
            <a:normAutofit/>
          </a:bodyPr>
          <a:lstStyle>
            <a:lvl1pPr indent="-628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00"/>
              <a:buChar char="●"/>
              <a:defRPr sz="6300">
                <a:solidFill>
                  <a:schemeClr val="dk2"/>
                </a:solidFill>
              </a:defRPr>
            </a:lvl1pPr>
            <a:lvl2pPr indent="-539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○"/>
              <a:defRPr sz="4900">
                <a:solidFill>
                  <a:schemeClr val="dk2"/>
                </a:solidFill>
              </a:defRPr>
            </a:lvl2pPr>
            <a:lvl3pPr indent="-539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■"/>
              <a:defRPr sz="4900">
                <a:solidFill>
                  <a:schemeClr val="dk2"/>
                </a:solidFill>
              </a:defRPr>
            </a:lvl3pPr>
            <a:lvl4pPr indent="-539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●"/>
              <a:defRPr sz="4900">
                <a:solidFill>
                  <a:schemeClr val="dk2"/>
                </a:solidFill>
              </a:defRPr>
            </a:lvl4pPr>
            <a:lvl5pPr indent="-539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○"/>
              <a:defRPr sz="4900">
                <a:solidFill>
                  <a:schemeClr val="dk2"/>
                </a:solidFill>
              </a:defRPr>
            </a:lvl5pPr>
            <a:lvl6pPr indent="-539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■"/>
              <a:defRPr sz="4900">
                <a:solidFill>
                  <a:schemeClr val="dk2"/>
                </a:solidFill>
              </a:defRPr>
            </a:lvl6pPr>
            <a:lvl7pPr indent="-539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●"/>
              <a:defRPr sz="4900">
                <a:solidFill>
                  <a:schemeClr val="dk2"/>
                </a:solidFill>
              </a:defRPr>
            </a:lvl7pPr>
            <a:lvl8pPr indent="-539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○"/>
              <a:defRPr sz="4900">
                <a:solidFill>
                  <a:schemeClr val="dk2"/>
                </a:solidFill>
              </a:defRPr>
            </a:lvl8pPr>
            <a:lvl9pPr indent="-539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900"/>
              <a:buChar char="■"/>
              <a:defRPr sz="4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2325" lIns="322325" spcFirstLastPara="1" rIns="322325" wrap="square" tIns="322325">
            <a:normAutofit/>
          </a:bodyPr>
          <a:lstStyle>
            <a:lvl1pPr lvl="0" algn="r">
              <a:buNone/>
              <a:defRPr sz="3500">
                <a:solidFill>
                  <a:schemeClr val="dk2"/>
                </a:solidFill>
              </a:defRPr>
            </a:lvl1pPr>
            <a:lvl2pPr lvl="1" algn="r">
              <a:buNone/>
              <a:defRPr sz="3500">
                <a:solidFill>
                  <a:schemeClr val="dk2"/>
                </a:solidFill>
              </a:defRPr>
            </a:lvl2pPr>
            <a:lvl3pPr lvl="2" algn="r">
              <a:buNone/>
              <a:defRPr sz="3500">
                <a:solidFill>
                  <a:schemeClr val="dk2"/>
                </a:solidFill>
              </a:defRPr>
            </a:lvl3pPr>
            <a:lvl4pPr lvl="3" algn="r">
              <a:buNone/>
              <a:defRPr sz="3500">
                <a:solidFill>
                  <a:schemeClr val="dk2"/>
                </a:solidFill>
              </a:defRPr>
            </a:lvl4pPr>
            <a:lvl5pPr lvl="4" algn="r">
              <a:buNone/>
              <a:defRPr sz="3500">
                <a:solidFill>
                  <a:schemeClr val="dk2"/>
                </a:solidFill>
              </a:defRPr>
            </a:lvl5pPr>
            <a:lvl6pPr lvl="5" algn="r">
              <a:buNone/>
              <a:defRPr sz="3500">
                <a:solidFill>
                  <a:schemeClr val="dk2"/>
                </a:solidFill>
              </a:defRPr>
            </a:lvl6pPr>
            <a:lvl7pPr lvl="6" algn="r">
              <a:buNone/>
              <a:defRPr sz="3500">
                <a:solidFill>
                  <a:schemeClr val="dk2"/>
                </a:solidFill>
              </a:defRPr>
            </a:lvl7pPr>
            <a:lvl8pPr lvl="7" algn="r">
              <a:buNone/>
              <a:defRPr sz="3500">
                <a:solidFill>
                  <a:schemeClr val="dk2"/>
                </a:solidFill>
              </a:defRPr>
            </a:lvl8pPr>
            <a:lvl9pPr lvl="8" algn="r">
              <a:buNone/>
              <a:defRPr sz="3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0000" y="13679400"/>
            <a:ext cx="20520000" cy="11160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55" name="Google Shape;55;p13"/>
          <p:cNvSpPr/>
          <p:nvPr/>
        </p:nvSpPr>
        <p:spPr>
          <a:xfrm>
            <a:off x="14670000" y="14580000"/>
            <a:ext cx="5940000" cy="3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50000" y="7019100"/>
            <a:ext cx="11334600" cy="8109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chemeClr val="lt1"/>
                </a:solidFill>
              </a:rPr>
              <a:t>2. Firewall-Regeln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50000" y="7830000"/>
            <a:ext cx="11334600" cy="459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58" name="Google Shape;58;p13"/>
          <p:cNvSpPr txBox="1"/>
          <p:nvPr/>
        </p:nvSpPr>
        <p:spPr>
          <a:xfrm>
            <a:off x="630000" y="7830000"/>
            <a:ext cx="109800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2100">
                <a:solidFill>
                  <a:schemeClr val="dk1"/>
                </a:solidFill>
              </a:rPr>
              <a:t>Das Verhalten einer Firewall wird durch eine </a:t>
            </a:r>
            <a:r>
              <a:rPr lang="de" sz="2100">
                <a:solidFill>
                  <a:schemeClr val="dk1"/>
                </a:solidFill>
              </a:rPr>
              <a:t>Vielzahl verschiedener Regeln</a:t>
            </a:r>
            <a:r>
              <a:rPr lang="de" sz="2100">
                <a:solidFill>
                  <a:schemeClr val="dk1"/>
                </a:solidFill>
              </a:rPr>
              <a:t> – einem Regelsatz – bestimmt. Welche Regel mit welchem Paket auf welche Weise interagiert wird durch deren Parameter und Aktion bestimmt. [2]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" sz="2100">
                <a:solidFill>
                  <a:schemeClr val="dk1"/>
                </a:solidFill>
              </a:rPr>
              <a:t>Darüberhinaus sind folgende Beobachtungen für dieses Projekt von Relevanz: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de" sz="2100">
                <a:solidFill>
                  <a:schemeClr val="dk1"/>
                </a:solidFill>
              </a:rPr>
              <a:t>Wie lange eine Firewall benötigt, um ein Paket zu verarbeiten, hängt von der Position der auf das Paket zutreffenden Regel innerhalb des Regelsatzes ab.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de" sz="2100">
                <a:solidFill>
                  <a:schemeClr val="dk1"/>
                </a:solidFill>
              </a:rPr>
              <a:t>Solange ausschließlich Regeln derselben Aktion aufeinander folgen, können diese untereinander beliebig verschoben werden. In diesem Projekt werden</a:t>
            </a:r>
            <a:r>
              <a:rPr lang="de" sz="2100">
                <a:solidFill>
                  <a:schemeClr val="dk1"/>
                </a:solidFill>
              </a:rPr>
              <a:t> solche Mengen an Regeln als Regelgruppe bezeichnet</a:t>
            </a:r>
            <a:r>
              <a:rPr lang="de" sz="2100">
                <a:solidFill>
                  <a:schemeClr val="dk1"/>
                </a:solidFill>
              </a:rPr>
              <a:t>. </a:t>
            </a:r>
            <a:r>
              <a:rPr lang="de" sz="2100">
                <a:solidFill>
                  <a:srgbClr val="434343"/>
                </a:solidFill>
              </a:rPr>
              <a:t>(Andere Regelparameter können hierbei auch ausschlaggebend sein, werden in diesem Projekt allerdings vorerst nicht mit in die Gruppenbildung einbezogen.)</a:t>
            </a:r>
            <a:endParaRPr sz="2100">
              <a:solidFill>
                <a:srgbClr val="434343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0" y="29248650"/>
            <a:ext cx="21384000" cy="102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50">
                <a:solidFill>
                  <a:schemeClr val="dk1"/>
                </a:solidFill>
              </a:rPr>
              <a:t>Referenzen:</a:t>
            </a:r>
            <a:endParaRPr sz="1550">
              <a:solidFill>
                <a:schemeClr val="dk1"/>
              </a:solidFill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50">
                <a:solidFill>
                  <a:schemeClr val="dk1"/>
                </a:solidFill>
              </a:rPr>
              <a:t>[1] Wüsteney, L., Menth, M., Hummen, R., &amp; Heer, T. (2021, June). Impact of Packet Filtering on Time-Sensitive Networking Traffic. In 2021 17th IEEE International Conference on Factory Communication Systems (WFCS). IEEE.</a:t>
            </a:r>
            <a:endParaRPr sz="1550">
              <a:solidFill>
                <a:schemeClr val="dk1"/>
              </a:solidFill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50">
                <a:solidFill>
                  <a:schemeClr val="dk1"/>
                </a:solidFill>
              </a:rPr>
              <a:t>[2] ubuntu Deutschland e.V. (2021, December) iptables. in: https://wiki.ubuntuusers.de/iptables/ (Zugriff am 04.02.2022)</a:t>
            </a:r>
            <a:endParaRPr sz="1550">
              <a:solidFill>
                <a:schemeClr val="dk1"/>
              </a:solidFill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50">
                <a:solidFill>
                  <a:schemeClr val="dk1"/>
                </a:solidFill>
              </a:rPr>
              <a:t>[3] Nipkow et al. (2021, January) What is isabelle? in: https://isabelle.in.tum.de/overview.html (Zugriff am 04.02.2022)</a:t>
            </a:r>
            <a:endParaRPr sz="155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6595992" y="9720000"/>
            <a:ext cx="450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13"/>
          <p:cNvSpPr/>
          <p:nvPr/>
        </p:nvSpPr>
        <p:spPr>
          <a:xfrm>
            <a:off x="12096000" y="9720000"/>
            <a:ext cx="450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" name="Google Shape;62;p13"/>
          <p:cNvSpPr/>
          <p:nvPr/>
        </p:nvSpPr>
        <p:spPr>
          <a:xfrm>
            <a:off x="12240000" y="9727425"/>
            <a:ext cx="8694000" cy="2333400"/>
          </a:xfrm>
          <a:prstGeom prst="rect">
            <a:avLst/>
          </a:prstGeom>
          <a:noFill/>
          <a:ln cap="flat" cmpd="sng" w="9525">
            <a:solidFill>
              <a:srgbClr val="002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Netzwerksegment 2</a:t>
            </a:r>
            <a:endParaRPr b="1" sz="1800"/>
          </a:p>
        </p:txBody>
      </p:sp>
      <p:sp>
        <p:nvSpPr>
          <p:cNvPr id="63" name="Google Shape;63;p13"/>
          <p:cNvSpPr/>
          <p:nvPr/>
        </p:nvSpPr>
        <p:spPr>
          <a:xfrm>
            <a:off x="0" y="0"/>
            <a:ext cx="21384000" cy="216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solidFill>
                  <a:srgbClr val="002D58"/>
                </a:solidFill>
              </a:rPr>
              <a:t>FORSCHUNGSPROJEKT WS21/22</a:t>
            </a:r>
            <a:endParaRPr sz="3000">
              <a:solidFill>
                <a:srgbClr val="002D58"/>
              </a:solidFill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5000">
                <a:solidFill>
                  <a:srgbClr val="002D58"/>
                </a:solidFill>
              </a:rPr>
              <a:t>FORMAL VERIFIZIERTE FIREWALL-OPTIMIERUNG</a:t>
            </a:r>
            <a:endParaRPr b="1" sz="5000">
              <a:solidFill>
                <a:srgbClr val="002D58"/>
              </a:solidFill>
            </a:endParaRPr>
          </a:p>
          <a:p>
            <a:pPr indent="0" lvl="0" marL="177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de" sz="2200">
                <a:solidFill>
                  <a:srgbClr val="D70F3C"/>
                </a:solidFill>
              </a:rPr>
              <a:t>Samuel Müller</a:t>
            </a:r>
            <a:endParaRPr i="1" sz="2200">
              <a:solidFill>
                <a:srgbClr val="D70F3C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50000" y="3440317"/>
            <a:ext cx="11340000" cy="3129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65" name="Google Shape;65;p13"/>
          <p:cNvSpPr/>
          <p:nvPr/>
        </p:nvSpPr>
        <p:spPr>
          <a:xfrm>
            <a:off x="450000" y="2609850"/>
            <a:ext cx="11340000" cy="8286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chemeClr val="lt1"/>
                </a:solidFill>
              </a:rPr>
              <a:t>1. Einleitung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50000" y="26100900"/>
            <a:ext cx="20509800" cy="2698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177800" marR="1778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67" name="Google Shape;67;p13"/>
          <p:cNvSpPr/>
          <p:nvPr/>
        </p:nvSpPr>
        <p:spPr>
          <a:xfrm>
            <a:off x="450000" y="25290000"/>
            <a:ext cx="20509800" cy="8109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chemeClr val="lt1"/>
                </a:solidFill>
              </a:rPr>
              <a:t>4. Ergebnisse &amp; Ausblick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450000" y="12869400"/>
            <a:ext cx="20520000" cy="81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4200">
                <a:solidFill>
                  <a:schemeClr val="lt1"/>
                </a:solidFill>
              </a:rPr>
              <a:t>3. Umsetzung (erklärt anhand Abbildung 1)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4832" y="159089"/>
            <a:ext cx="3497034" cy="189635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810000" y="14040000"/>
            <a:ext cx="720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lt1"/>
                </a:solidFill>
              </a:rPr>
              <a:t>Testdaten, Leistungsmessung und Optimierung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10000" y="14580000"/>
            <a:ext cx="7200000" cy="333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2" name="Google Shape;72;p13"/>
          <p:cNvSpPr txBox="1"/>
          <p:nvPr/>
        </p:nvSpPr>
        <p:spPr>
          <a:xfrm>
            <a:off x="981256" y="14580000"/>
            <a:ext cx="68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Testpakete für Testszenario erzeugen.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Trefferzahl jeder Regel für Testpakete aus Test- szenario auswerten.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Manuelles Erstellen eines Iptables-Datensatzes durch Modifizierung des Originals, wobei Regeln innerhalb einer Regelgruppe nach Trefferzahl absteigend sortiert werden.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8374475" y="14580000"/>
            <a:ext cx="5940000" cy="3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8374475" y="14040000"/>
            <a:ext cx="594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rgbClr val="FFFFFF"/>
                </a:solidFill>
              </a:rPr>
              <a:t>Original mit Trefferzahlen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554475" y="14580000"/>
            <a:ext cx="558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:FORWARD REJECT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-d [...] -j ACCEPT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1</a:t>
            </a:r>
            <a:r>
              <a:rPr b="1"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-s [...] -j ACCEPT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Trefferzahl: 4</a:t>
            </a:r>
            <a:r>
              <a:rPr b="1" lang="de" sz="2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D70F3C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-s [...] -j DROP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Trefferzahl: 3</a:t>
            </a:r>
            <a:r>
              <a:rPr b="1" lang="de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810308" y="18270000"/>
            <a:ext cx="71997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lt1"/>
                </a:solidFill>
              </a:rPr>
              <a:t>Formaler Beweis der Äquivalenz mit Isabelle </a:t>
            </a:r>
            <a:r>
              <a:rPr lang="de" sz="2200">
                <a:solidFill>
                  <a:schemeClr val="lt1"/>
                </a:solidFill>
              </a:rPr>
              <a:t>[3]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810000" y="18810000"/>
            <a:ext cx="7199700" cy="333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8" name="Google Shape;78;p13"/>
          <p:cNvSpPr txBox="1"/>
          <p:nvPr/>
        </p:nvSpPr>
        <p:spPr>
          <a:xfrm>
            <a:off x="990000" y="18810000"/>
            <a:ext cx="68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Parsen der beiden Iptables-Exportdateien.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Gruppieren der Regeln je Datensatz nach ihrer Kette und Aktion zu Regelgruppen.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Vergleichen der beiden Gruppenstrukturen nach folgenden Eigenschaften: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lphaLcPeriod"/>
            </a:pPr>
            <a:r>
              <a:rPr lang="de" sz="2100">
                <a:solidFill>
                  <a:schemeClr val="dk1"/>
                </a:solidFill>
              </a:rPr>
              <a:t>existierenden Ketten,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lphaLcPeriod"/>
            </a:pPr>
            <a:r>
              <a:rPr lang="de" sz="2100">
                <a:solidFill>
                  <a:schemeClr val="dk1"/>
                </a:solidFill>
              </a:rPr>
              <a:t>der Anzahl an Gruppen pro Kette und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lphaLcPeriod"/>
            </a:pPr>
            <a:r>
              <a:rPr lang="de" sz="2100">
                <a:solidFill>
                  <a:schemeClr val="dk1"/>
                </a:solidFill>
              </a:rPr>
              <a:t>der Größe der bestehenden Gruppen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4670000" y="18810000"/>
            <a:ext cx="5940000" cy="3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4670000" y="18270000"/>
            <a:ext cx="594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rgbClr val="FFFFFF"/>
                </a:solidFill>
              </a:rPr>
              <a:t>Prozessierte und gruppierte Optimierung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4850050" y="18810000"/>
            <a:ext cx="5580000" cy="3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(Chain ''FORWARD''),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[Group ''GROUP_ACCEPT_0''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de" sz="2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Rule (Src ([...])) action.ACCEPT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Rule (Dst ([...])) action.ACCEPT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''GROUP_DROP_1''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de" sz="2000">
                <a:solidFill>
                  <a:srgbClr val="D70F3C"/>
                </a:solidFill>
                <a:latin typeface="Courier New"/>
                <a:ea typeface="Courier New"/>
                <a:cs typeface="Courier New"/>
                <a:sym typeface="Courier New"/>
              </a:rPr>
              <a:t>Rule (Match Src ([...]))) action.DROP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8370000" y="18810000"/>
            <a:ext cx="5940000" cy="3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8370000" y="18270000"/>
            <a:ext cx="594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rgbClr val="FFFFFF"/>
                </a:solidFill>
              </a:rPr>
              <a:t>Prozessiertes und gruppiertes Original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8554475" y="18810000"/>
            <a:ext cx="5580000" cy="3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(Chain ''FORWARD''),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[Group ''GROUP_ACCEPT_0''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Rule (Dst ([...])) action.ACCEPT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Rule (Src ([...])) action.ACCEPT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''GROUP_DROP_1''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de" sz="2000">
                <a:solidFill>
                  <a:srgbClr val="D70F3C"/>
                </a:solidFill>
                <a:latin typeface="Courier New"/>
                <a:ea typeface="Courier New"/>
                <a:cs typeface="Courier New"/>
                <a:sym typeface="Courier New"/>
              </a:rPr>
              <a:t>Rule (Match Src ([...]))) action.DROP</a:t>
            </a: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10051" y="22500000"/>
            <a:ext cx="1980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1778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lt1"/>
                </a:solidFill>
              </a:rPr>
              <a:t>Analyse der Firewall-Optimierung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10000" y="23040000"/>
            <a:ext cx="198000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89750" y="23040000"/>
            <a:ext cx="194403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Messen</a:t>
            </a:r>
            <a:r>
              <a:rPr lang="de" sz="2100">
                <a:solidFill>
                  <a:schemeClr val="dk1"/>
                </a:solidFill>
              </a:rPr>
              <a:t> der benötigten Zeit des originalen Firewall-Regelsatzes für die Verarbeitung der Testpakete.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Messen der benötigten Zeit des optimierten Firewall-Regelsatzes für die Verarbeitung der Testpakete.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de" sz="2100">
                <a:solidFill>
                  <a:schemeClr val="dk1"/>
                </a:solidFill>
              </a:rPr>
              <a:t>Ist </a:t>
            </a:r>
            <a:r>
              <a:rPr lang="de" sz="2100">
                <a:solidFill>
                  <a:schemeClr val="dk1"/>
                </a:solidFill>
              </a:rPr>
              <a:t>die Verarbeitungszeit des optimierten Regelsatzes für die Testpakete kleiner als die des Originals, wurde die Leistung des Firewall</a:t>
            </a:r>
            <a:r>
              <a:rPr lang="de" sz="2100">
                <a:solidFill>
                  <a:schemeClr val="dk1"/>
                </a:solidFill>
              </a:rPr>
              <a:t>-Regelsatzes optimiert.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30000" y="26099400"/>
            <a:ext cx="201600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100">
                <a:solidFill>
                  <a:schemeClr val="dk1"/>
                </a:solidFill>
              </a:rPr>
              <a:t>In diesem Semester wurden aktions- und ausführungsbasierte </a:t>
            </a:r>
            <a:r>
              <a:rPr lang="de" sz="2100">
                <a:solidFill>
                  <a:schemeClr val="dk1"/>
                </a:solidFill>
              </a:rPr>
              <a:t>Modifizierungen </a:t>
            </a:r>
            <a:r>
              <a:rPr lang="de" sz="2100">
                <a:solidFill>
                  <a:schemeClr val="dk1"/>
                </a:solidFill>
              </a:rPr>
              <a:t>von Firewalls zur Minimierung der Verzögerungen erfolgreich umgesetzt, wobei der Erhalt </a:t>
            </a:r>
            <a:r>
              <a:rPr lang="de" sz="2100">
                <a:solidFill>
                  <a:schemeClr val="dk1"/>
                </a:solidFill>
              </a:rPr>
              <a:t>der</a:t>
            </a:r>
            <a:r>
              <a:rPr lang="de" sz="2100">
                <a:solidFill>
                  <a:schemeClr val="dk1"/>
                </a:solidFill>
              </a:rPr>
              <a:t> bestehenden Firewall-Semantik </a:t>
            </a:r>
            <a:r>
              <a:rPr lang="de" sz="2100">
                <a:solidFill>
                  <a:schemeClr val="dk1"/>
                </a:solidFill>
              </a:rPr>
              <a:t>mit dem Theorembeweiser Isabelle formal bewiesen wurde.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" sz="2100">
                <a:solidFill>
                  <a:schemeClr val="dk1"/>
                </a:solidFill>
              </a:rPr>
              <a:t>Im </a:t>
            </a:r>
            <a:r>
              <a:rPr lang="de" sz="2100">
                <a:solidFill>
                  <a:schemeClr val="dk1"/>
                </a:solidFill>
              </a:rPr>
              <a:t>weiteren Verlauf des Projektes soll die Gruppenbildung nicht nur auf Regelaktionen basieren, sondern andere Paketparameter mit einbeziehen. Gruppen werden in Zukunft somit nicht-lineare Abhängigkeiten besitzen, weshalb der Gruppierungsalgorithmus dahingehend optimiert werden muss. Für eine bessere Leistungssteigerung sollen Regeln darüber hinaus unabhängig</a:t>
            </a:r>
            <a:r>
              <a:rPr lang="de" sz="2100">
                <a:solidFill>
                  <a:schemeClr val="dk1"/>
                </a:solidFill>
              </a:rPr>
              <a:t> von ihrer eigenen Regelgruppe v</a:t>
            </a:r>
            <a:r>
              <a:rPr lang="de" sz="2100">
                <a:solidFill>
                  <a:schemeClr val="dk1"/>
                </a:solidFill>
              </a:rPr>
              <a:t>erschoben werden. Um die ursprüngliche Semantik beizubehalten, sollen hierfür Helfer-Regeln implementiert werden, was allerdings eine Anpassung des Beweisverfahrens nach sich zieht.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30000" y="3419850"/>
            <a:ext cx="109800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100"/>
              <a:t>In automatisierten Fertigungsanlagen sind </a:t>
            </a:r>
            <a:r>
              <a:rPr lang="de" sz="2100"/>
              <a:t>Verzögerungen bei der Übertragung von zeitkritischen Steuerungsdaten für</a:t>
            </a:r>
            <a:r>
              <a:rPr lang="de" sz="2100"/>
              <a:t> Roboter </a:t>
            </a:r>
            <a:r>
              <a:rPr lang="de" sz="2100">
                <a:solidFill>
                  <a:schemeClr val="dk1"/>
                </a:solidFill>
              </a:rPr>
              <a:t>sehr </a:t>
            </a:r>
            <a:r>
              <a:rPr lang="de" sz="2100"/>
              <a:t>problematisch. Unter anderem können Sicherheitsmaßnahmen wie Firewalls für solche Verzögerungen verantwortlich sein. [1]</a:t>
            </a:r>
            <a:endParaRPr sz="2100"/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" sz="2100"/>
              <a:t>Die Zielsetzung dieses Projektes ist es die Leistung von Firewalls für solche Anlagen zu optimieren, ohne deren Semantik </a:t>
            </a:r>
            <a:r>
              <a:rPr lang="de" sz="2100"/>
              <a:t>zu </a:t>
            </a:r>
            <a:r>
              <a:rPr lang="de" sz="2100"/>
              <a:t>verändern. </a:t>
            </a:r>
            <a:endParaRPr sz="2100"/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de" sz="2100"/>
              <a:t>Da die Optimierung nach der Zertifizierung </a:t>
            </a:r>
            <a:r>
              <a:rPr lang="de" sz="2100"/>
              <a:t>eines Auditors </a:t>
            </a:r>
            <a:r>
              <a:rPr lang="de" sz="2100"/>
              <a:t>automatisiert erfolgt, ist ein formaler Beweis für den Funktionserhalt der Firewall zwingend notwendig.</a:t>
            </a:r>
            <a:endParaRPr sz="2100"/>
          </a:p>
        </p:txBody>
      </p:sp>
      <p:sp>
        <p:nvSpPr>
          <p:cNvPr id="90" name="Google Shape;90;p13"/>
          <p:cNvSpPr txBox="1"/>
          <p:nvPr/>
        </p:nvSpPr>
        <p:spPr>
          <a:xfrm>
            <a:off x="14869250" y="14580000"/>
            <a:ext cx="558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:FORWARD REJECT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4285F4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-s [...] -j ACCEPT</a:t>
            </a:r>
            <a:endParaRPr sz="2000">
              <a:solidFill>
                <a:srgbClr val="4285F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Trefferzahl: 4</a:t>
            </a:r>
            <a:r>
              <a:rPr b="1" lang="de" sz="2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-d [...] -j ACCEPT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Trefferzahl: 1</a:t>
            </a:r>
            <a:r>
              <a:rPr b="1" lang="de" sz="20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D70F3C"/>
                </a:solidFill>
                <a:latin typeface="Courier New"/>
                <a:ea typeface="Courier New"/>
                <a:cs typeface="Courier New"/>
                <a:sym typeface="Courier New"/>
              </a:rPr>
              <a:t>-A FORWARD -s [...] -j DROP</a:t>
            </a:r>
            <a:endParaRPr sz="20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Trefferzahl: 3</a:t>
            </a:r>
            <a:r>
              <a:rPr b="1" lang="de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096000" y="2700000"/>
            <a:ext cx="45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" name="Google Shape;92;p13"/>
          <p:cNvSpPr/>
          <p:nvPr/>
        </p:nvSpPr>
        <p:spPr>
          <a:xfrm>
            <a:off x="16595926" y="2700000"/>
            <a:ext cx="45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13"/>
          <p:cNvSpPr/>
          <p:nvPr/>
        </p:nvSpPr>
        <p:spPr>
          <a:xfrm>
            <a:off x="12240000" y="2612700"/>
            <a:ext cx="8694000" cy="1527300"/>
          </a:xfrm>
          <a:prstGeom prst="rect">
            <a:avLst/>
          </a:prstGeom>
          <a:noFill/>
          <a:ln cap="flat" cmpd="sng" w="9525">
            <a:solidFill>
              <a:srgbClr val="002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Netzwerksegment 1</a:t>
            </a:r>
            <a:endParaRPr b="1" sz="1800"/>
          </a:p>
        </p:txBody>
      </p:sp>
      <p:sp>
        <p:nvSpPr>
          <p:cNvPr id="94" name="Google Shape;94;p13"/>
          <p:cNvSpPr/>
          <p:nvPr/>
        </p:nvSpPr>
        <p:spPr>
          <a:xfrm>
            <a:off x="12240000" y="5040000"/>
            <a:ext cx="8694000" cy="3960000"/>
          </a:xfrm>
          <a:prstGeom prst="rect">
            <a:avLst/>
          </a:prstGeom>
          <a:noFill/>
          <a:ln cap="flat" cmpd="sng" w="9525">
            <a:solidFill>
              <a:srgbClr val="002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Firewall</a:t>
            </a:r>
            <a:endParaRPr b="1" sz="1800"/>
          </a:p>
        </p:txBody>
      </p:sp>
      <p:sp>
        <p:nvSpPr>
          <p:cNvPr id="95" name="Google Shape;95;p13"/>
          <p:cNvSpPr/>
          <p:nvPr/>
        </p:nvSpPr>
        <p:spPr>
          <a:xfrm>
            <a:off x="17136000" y="1089045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9296000" y="1053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9116000" y="1071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8936000" y="1089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4976000" y="1053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14796000" y="1071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14616000" y="1089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12816000" y="1089000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3"/>
          <p:cNvCxnSpPr>
            <a:stCxn id="91" idx="2"/>
            <a:endCxn id="61" idx="0"/>
          </p:cNvCxnSpPr>
          <p:nvPr/>
        </p:nvCxnSpPr>
        <p:spPr>
          <a:xfrm>
            <a:off x="14346000" y="4140000"/>
            <a:ext cx="0" cy="55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3"/>
          <p:cNvCxnSpPr>
            <a:stCxn id="92" idx="2"/>
            <a:endCxn id="60" idx="0"/>
          </p:cNvCxnSpPr>
          <p:nvPr/>
        </p:nvCxnSpPr>
        <p:spPr>
          <a:xfrm>
            <a:off x="18845926" y="4140000"/>
            <a:ext cx="0" cy="55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5" name="Google Shape;105;p13"/>
          <p:cNvSpPr/>
          <p:nvPr/>
        </p:nvSpPr>
        <p:spPr>
          <a:xfrm>
            <a:off x="18620925" y="3060000"/>
            <a:ext cx="1260000" cy="54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15200925" y="324000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15020925" y="342000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A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7090925" y="288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16910925" y="306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6730925" y="324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16550925" y="342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B</a:t>
            </a:r>
            <a:endParaRPr b="1" sz="1800"/>
          </a:p>
        </p:txBody>
      </p:sp>
      <p:sp>
        <p:nvSpPr>
          <p:cNvPr id="112" name="Google Shape;112;p13"/>
          <p:cNvSpPr/>
          <p:nvPr/>
        </p:nvSpPr>
        <p:spPr>
          <a:xfrm>
            <a:off x="18440925" y="3240000"/>
            <a:ext cx="1260000" cy="54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18260925" y="3420000"/>
            <a:ext cx="1260000" cy="54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/>
              <a:t>C</a:t>
            </a:r>
            <a:endParaRPr b="1" sz="1800"/>
          </a:p>
        </p:txBody>
      </p:sp>
      <p:sp>
        <p:nvSpPr>
          <p:cNvPr id="114" name="Google Shape;114;p13"/>
          <p:cNvSpPr/>
          <p:nvPr/>
        </p:nvSpPr>
        <p:spPr>
          <a:xfrm>
            <a:off x="13446000" y="5400000"/>
            <a:ext cx="2970000" cy="3240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Firewall-Konfiguration 1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4166000" y="5940000"/>
            <a:ext cx="2070000" cy="360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595959"/>
                </a:solidFill>
              </a:rPr>
              <a:t>…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14166000" y="7020000"/>
            <a:ext cx="2070000" cy="36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1+n: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4166000" y="6480000"/>
            <a:ext cx="2070000" cy="36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262799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n:	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4166000" y="7560000"/>
            <a:ext cx="2070000" cy="36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2+n: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4166000" y="8100000"/>
            <a:ext cx="2070000" cy="360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595959"/>
                </a:solidFill>
              </a:rPr>
              <a:t>…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2816000" y="648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12816000" y="702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2816000" y="756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12816000" y="810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z </a:t>
            </a:r>
            <a:r>
              <a:rPr lang="de" sz="1800"/>
              <a:t>ns</a:t>
            </a:r>
            <a:endParaRPr sz="1800"/>
          </a:p>
        </p:txBody>
      </p:sp>
      <p:sp>
        <p:nvSpPr>
          <p:cNvPr id="124" name="Google Shape;124;p13"/>
          <p:cNvSpPr txBox="1"/>
          <p:nvPr/>
        </p:nvSpPr>
        <p:spPr>
          <a:xfrm>
            <a:off x="12816000" y="594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x</a:t>
            </a:r>
            <a:r>
              <a:rPr lang="de" sz="1800"/>
              <a:t> ns</a:t>
            </a:r>
            <a:endParaRPr sz="1800"/>
          </a:p>
        </p:txBody>
      </p:sp>
      <p:sp>
        <p:nvSpPr>
          <p:cNvPr id="125" name="Google Shape;125;p13"/>
          <p:cNvSpPr/>
          <p:nvPr/>
        </p:nvSpPr>
        <p:spPr>
          <a:xfrm>
            <a:off x="17766000" y="5400000"/>
            <a:ext cx="2970000" cy="3240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Firewall-Konfiguration 2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18486000" y="5940000"/>
            <a:ext cx="2070000" cy="360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595959"/>
                </a:solidFill>
              </a:rPr>
              <a:t>…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8486000" y="7020000"/>
            <a:ext cx="2070000" cy="36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1+n: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18486000" y="6480000"/>
            <a:ext cx="2070000" cy="36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262799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18486000" y="7560000"/>
            <a:ext cx="2070000" cy="360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2+n: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8486000" y="8100000"/>
            <a:ext cx="2070000" cy="360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595959"/>
                </a:solidFill>
              </a:rPr>
              <a:t>…</a:t>
            </a:r>
            <a:endParaRPr sz="2000">
              <a:solidFill>
                <a:srgbClr val="595959"/>
              </a:solidFill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17136000" y="648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7136000" y="702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7136000" y="756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7136000" y="810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z 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7136000" y="5940000"/>
            <a:ext cx="6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x ns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6000" y="594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6000" y="648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6000" y="702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6000" y="756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56000" y="8100000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12636000" y="1107000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(</a:t>
            </a:r>
            <a:r>
              <a:rPr b="1" lang="de">
                <a:solidFill>
                  <a:schemeClr val="dk1"/>
                </a:solidFill>
              </a:rPr>
              <a:t>x</a:t>
            </a:r>
            <a:r>
              <a:rPr lang="de">
                <a:solidFill>
                  <a:schemeClr val="dk1"/>
                </a:solidFill>
              </a:rPr>
              <a:t> + </a:t>
            </a:r>
            <a:r>
              <a:rPr b="1" lang="de">
                <a:solidFill>
                  <a:schemeClr val="dk1"/>
                </a:solidFill>
              </a:rPr>
              <a:t>y</a:t>
            </a:r>
            <a:r>
              <a:rPr lang="de">
                <a:solidFill>
                  <a:schemeClr val="dk1"/>
                </a:solidFill>
              </a:rPr>
              <a:t>) ns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4436000" y="1107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(</a:t>
            </a:r>
            <a:r>
              <a:rPr b="1" lang="de"/>
              <a:t>x</a:t>
            </a:r>
            <a:r>
              <a:rPr lang="de"/>
              <a:t> + </a:t>
            </a:r>
            <a:r>
              <a:rPr b="1" lang="de"/>
              <a:t>2 * y</a:t>
            </a:r>
            <a:r>
              <a:rPr lang="de"/>
              <a:t>) ns</a:t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16956000" y="11070450"/>
            <a:ext cx="1260000" cy="540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(</a:t>
            </a:r>
            <a:r>
              <a:rPr b="1" lang="de"/>
              <a:t>x</a:t>
            </a:r>
            <a:r>
              <a:rPr lang="de"/>
              <a:t> + </a:t>
            </a:r>
            <a:r>
              <a:rPr b="1" lang="de"/>
              <a:t>2 * y</a:t>
            </a:r>
            <a:r>
              <a:rPr lang="de"/>
              <a:t>) ns</a:t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18756000" y="11070000"/>
            <a:ext cx="1260000" cy="540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(</a:t>
            </a:r>
            <a:r>
              <a:rPr b="1" lang="de"/>
              <a:t>x</a:t>
            </a:r>
            <a:r>
              <a:rPr lang="de"/>
              <a:t> + </a:t>
            </a:r>
            <a:r>
              <a:rPr b="1" lang="de"/>
              <a:t>y</a:t>
            </a:r>
            <a:r>
              <a:rPr lang="de"/>
              <a:t>) ns</a:t>
            </a:r>
            <a:endParaRPr/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6000" y="594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6000" y="648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6000" y="702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6000" y="75600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6000" y="8100000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/>
        </p:nvSpPr>
        <p:spPr>
          <a:xfrm>
            <a:off x="12456000" y="11610000"/>
            <a:ext cx="41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t</a:t>
            </a:r>
            <a:r>
              <a:rPr baseline="-25000" lang="de" sz="1800">
                <a:solidFill>
                  <a:schemeClr val="dk1"/>
                </a:solidFill>
              </a:rPr>
              <a:t>1</a:t>
            </a:r>
            <a:r>
              <a:rPr lang="de" sz="1800">
                <a:solidFill>
                  <a:schemeClr val="dk1"/>
                </a:solidFill>
              </a:rPr>
              <a:t> = (6x + 10</a:t>
            </a: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) ns Verarbeitungszeit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16776000" y="11610000"/>
            <a:ext cx="41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t</a:t>
            </a:r>
            <a:r>
              <a:rPr baseline="-25000" lang="de" sz="1800">
                <a:solidFill>
                  <a:schemeClr val="dk1"/>
                </a:solidFill>
              </a:rPr>
              <a:t>2</a:t>
            </a:r>
            <a:r>
              <a:rPr lang="de" sz="1800">
                <a:solidFill>
                  <a:schemeClr val="dk1"/>
                </a:solidFill>
              </a:rPr>
              <a:t> =</a:t>
            </a:r>
            <a:r>
              <a:rPr lang="de" sz="1800">
                <a:solidFill>
                  <a:schemeClr val="dk1"/>
                </a:solidFill>
              </a:rPr>
              <a:t> (6x + 8</a:t>
            </a:r>
            <a:r>
              <a:rPr b="1" lang="de" sz="1800">
                <a:solidFill>
                  <a:schemeClr val="dk1"/>
                </a:solidFill>
              </a:rPr>
              <a:t>y</a:t>
            </a:r>
            <a:r>
              <a:rPr lang="de" sz="1800">
                <a:solidFill>
                  <a:schemeClr val="dk1"/>
                </a:solidFill>
              </a:rPr>
              <a:t>) ns </a:t>
            </a:r>
            <a:r>
              <a:rPr lang="de" sz="1800">
                <a:solidFill>
                  <a:schemeClr val="dk1"/>
                </a:solidFill>
              </a:rPr>
              <a:t>Verarbeitungszeit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12276000" y="3420000"/>
            <a:ext cx="25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Eingehende Pakete: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2231000" y="12060438"/>
            <a:ext cx="873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/>
              <a:t>Abbildung 1: Aufruforientiertes Umsortieren von Firewall-Regelsätzen zur Minimierung der Verarbeitungszeit</a:t>
            </a:r>
            <a:endParaRPr i="1"/>
          </a:p>
        </p:txBody>
      </p:sp>
      <p:sp>
        <p:nvSpPr>
          <p:cNvPr id="154" name="Google Shape;154;p13"/>
          <p:cNvSpPr txBox="1"/>
          <p:nvPr/>
        </p:nvSpPr>
        <p:spPr>
          <a:xfrm>
            <a:off x="12276000" y="10125000"/>
            <a:ext cx="25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Ausgehende Pakete: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16686000" y="10125000"/>
            <a:ext cx="25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Ausgehende Pakete:</a:t>
            </a:r>
            <a:endParaRPr sz="1800">
              <a:solidFill>
                <a:srgbClr val="FF9900"/>
              </a:solidFill>
            </a:endParaRPr>
          </a:p>
        </p:txBody>
      </p:sp>
      <p:cxnSp>
        <p:nvCxnSpPr>
          <p:cNvPr id="156" name="Google Shape;156;p13"/>
          <p:cNvCxnSpPr>
            <a:stCxn id="94" idx="0"/>
            <a:endCxn id="62" idx="2"/>
          </p:cNvCxnSpPr>
          <p:nvPr/>
        </p:nvCxnSpPr>
        <p:spPr>
          <a:xfrm>
            <a:off x="16587000" y="5040000"/>
            <a:ext cx="0" cy="702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7" name="Google Shape;157;p13"/>
          <p:cNvSpPr/>
          <p:nvPr/>
        </p:nvSpPr>
        <p:spPr>
          <a:xfrm>
            <a:off x="14670000" y="14040000"/>
            <a:ext cx="5940000" cy="540000"/>
          </a:xfrm>
          <a:prstGeom prst="rect">
            <a:avLst/>
          </a:prstGeom>
          <a:solidFill>
            <a:srgbClr val="002D58"/>
          </a:solidFill>
          <a:ln>
            <a:noFill/>
          </a:ln>
        </p:spPr>
        <p:txBody>
          <a:bodyPr anchorCtr="0" anchor="ctr" bIns="91875" lIns="91875" spcFirstLastPara="1" rIns="91875" wrap="square" tIns="91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rgbClr val="FFFFFF"/>
                </a:solidFill>
              </a:rPr>
              <a:t>Optimierung mit Trefferzahlen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15066000" y="648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ACCEPT</a:t>
            </a:r>
            <a:endParaRPr sz="1800"/>
          </a:p>
        </p:txBody>
      </p:sp>
      <p:sp>
        <p:nvSpPr>
          <p:cNvPr id="159" name="Google Shape;159;p13"/>
          <p:cNvSpPr txBox="1"/>
          <p:nvPr/>
        </p:nvSpPr>
        <p:spPr>
          <a:xfrm>
            <a:off x="15066000" y="702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ACCEPT</a:t>
            </a:r>
            <a:endParaRPr sz="1800"/>
          </a:p>
        </p:txBody>
      </p:sp>
      <p:sp>
        <p:nvSpPr>
          <p:cNvPr id="160" name="Google Shape;160;p13"/>
          <p:cNvSpPr txBox="1"/>
          <p:nvPr/>
        </p:nvSpPr>
        <p:spPr>
          <a:xfrm>
            <a:off x="15066000" y="756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DROP</a:t>
            </a:r>
            <a:endParaRPr sz="1800"/>
          </a:p>
        </p:txBody>
      </p:sp>
      <p:sp>
        <p:nvSpPr>
          <p:cNvPr id="161" name="Google Shape;161;p13"/>
          <p:cNvSpPr txBox="1"/>
          <p:nvPr/>
        </p:nvSpPr>
        <p:spPr>
          <a:xfrm>
            <a:off x="19386000" y="648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ACCEPT</a:t>
            </a:r>
            <a:endParaRPr sz="1800"/>
          </a:p>
        </p:txBody>
      </p:sp>
      <p:sp>
        <p:nvSpPr>
          <p:cNvPr id="162" name="Google Shape;162;p13"/>
          <p:cNvSpPr txBox="1"/>
          <p:nvPr/>
        </p:nvSpPr>
        <p:spPr>
          <a:xfrm>
            <a:off x="19386000" y="702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ACCEPT</a:t>
            </a:r>
            <a:endParaRPr sz="1800"/>
          </a:p>
        </p:txBody>
      </p:sp>
      <p:sp>
        <p:nvSpPr>
          <p:cNvPr id="163" name="Google Shape;163;p13"/>
          <p:cNvSpPr txBox="1"/>
          <p:nvPr/>
        </p:nvSpPr>
        <p:spPr>
          <a:xfrm>
            <a:off x="19386000" y="75600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DROP</a:t>
            </a:r>
            <a:endParaRPr sz="1800"/>
          </a:p>
        </p:txBody>
      </p:sp>
      <p:sp>
        <p:nvSpPr>
          <p:cNvPr id="164" name="Google Shape;164;p13"/>
          <p:cNvSpPr txBox="1"/>
          <p:nvPr/>
        </p:nvSpPr>
        <p:spPr>
          <a:xfrm>
            <a:off x="14166000" y="648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A</a:t>
            </a:r>
            <a:endParaRPr sz="1800"/>
          </a:p>
        </p:txBody>
      </p:sp>
      <p:sp>
        <p:nvSpPr>
          <p:cNvPr id="165" name="Google Shape;165;p13"/>
          <p:cNvSpPr txBox="1"/>
          <p:nvPr/>
        </p:nvSpPr>
        <p:spPr>
          <a:xfrm>
            <a:off x="14166075" y="702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B</a:t>
            </a:r>
            <a:endParaRPr sz="1800"/>
          </a:p>
        </p:txBody>
      </p:sp>
      <p:sp>
        <p:nvSpPr>
          <p:cNvPr id="166" name="Google Shape;166;p13"/>
          <p:cNvSpPr txBox="1"/>
          <p:nvPr/>
        </p:nvSpPr>
        <p:spPr>
          <a:xfrm>
            <a:off x="14166075" y="756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C</a:t>
            </a:r>
            <a:endParaRPr sz="1800"/>
          </a:p>
        </p:txBody>
      </p:sp>
      <p:sp>
        <p:nvSpPr>
          <p:cNvPr id="167" name="Google Shape;167;p13"/>
          <p:cNvSpPr txBox="1"/>
          <p:nvPr/>
        </p:nvSpPr>
        <p:spPr>
          <a:xfrm>
            <a:off x="18486000" y="756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C</a:t>
            </a:r>
            <a:endParaRPr sz="1800"/>
          </a:p>
        </p:txBody>
      </p:sp>
      <p:sp>
        <p:nvSpPr>
          <p:cNvPr id="168" name="Google Shape;168;p13"/>
          <p:cNvSpPr txBox="1"/>
          <p:nvPr/>
        </p:nvSpPr>
        <p:spPr>
          <a:xfrm>
            <a:off x="18486000" y="648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B</a:t>
            </a:r>
            <a:endParaRPr sz="1800"/>
          </a:p>
        </p:txBody>
      </p:sp>
      <p:sp>
        <p:nvSpPr>
          <p:cNvPr id="169" name="Google Shape;169;p13"/>
          <p:cNvSpPr txBox="1"/>
          <p:nvPr/>
        </p:nvSpPr>
        <p:spPr>
          <a:xfrm>
            <a:off x="18486000" y="702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rule </a:t>
            </a:r>
            <a:r>
              <a:rPr b="1" lang="de" sz="1800">
                <a:solidFill>
                  <a:schemeClr val="dk1"/>
                </a:solidFill>
              </a:rPr>
              <a:t>A</a:t>
            </a:r>
            <a:endParaRPr sz="1800"/>
          </a:p>
        </p:txBody>
      </p:sp>
      <p:sp>
        <p:nvSpPr>
          <p:cNvPr id="170" name="Google Shape;170;p13"/>
          <p:cNvSpPr txBox="1"/>
          <p:nvPr/>
        </p:nvSpPr>
        <p:spPr>
          <a:xfrm>
            <a:off x="18809990" y="14579253"/>
            <a:ext cx="18123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999999"/>
                </a:solidFill>
              </a:rPr>
              <a:t>Iptables-Exportdatei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2508465" y="14579253"/>
            <a:ext cx="18123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999999"/>
                </a:solidFill>
              </a:rPr>
              <a:t>Iptables-Exportdatei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18404927" y="18809625"/>
            <a:ext cx="22146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rgbClr val="999999"/>
                </a:solidFill>
              </a:rPr>
              <a:t>Isabelle-interne Datenstruktur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2104940" y="18809625"/>
            <a:ext cx="22146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875" lIns="91875" spcFirstLastPara="1" rIns="91875" wrap="square" tIns="9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rgbClr val="999999"/>
                </a:solidFill>
              </a:rPr>
              <a:t>Isabelle-interne Datenstruktur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